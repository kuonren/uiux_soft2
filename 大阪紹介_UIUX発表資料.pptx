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06D1B-4A58-2CA3-F9BE-AFD1D0456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D290AF-127A-45E3-9731-8971C9AC7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3CF927-EC8B-2F65-7E65-B49096B0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A1F01A-E9B1-BBC8-93F7-C0DD75E9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72C50-1DDA-0A05-24EA-C2EA13C3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72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DBD5CD-67EB-D720-A896-B7D94975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9D826B-EEAC-D652-C211-D465BFACB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D1C52B-0DAB-0FEF-F9B6-225DCDE6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9430C-A166-DBEA-921E-B9A06E31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88814E-C3BA-744A-1946-94661B03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8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F9B9F0-8A69-4EFF-3D0A-CEB2C7F7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E6034F-2CB0-B0D5-6414-E00AEFEE7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7B1C35-7CDE-4B9C-04AC-09CDAEE0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8A4C0C-398D-CE1B-E343-73CFEC71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A46D20-8A34-57E0-D0EB-A9F30645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19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82193-2A01-5299-2130-209D6810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7259E7-EB23-165A-34F2-BF2334E31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21D6F1-D38D-D389-50AE-306F7772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DC40A2-ABFC-BF82-80AE-4DE3AF7B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25EB47-A73A-C8B8-6893-736F6708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DB448C-6F7A-8835-3C54-C41F6D7F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29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65080-1039-E1DA-F0C0-618155E0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1F16C6-9F00-A5B3-4A6A-EAF6CD6E7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594931-6E47-62B7-E0AA-5E36F731B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394483-BF57-CCB4-2536-24A7DA0C2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629746-48A7-427C-C358-74F75F66A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322354-490A-E309-A1ED-04ADE882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BA6981-9DC5-546C-1F33-40D5C07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DEB912-1925-78F6-3876-6C84C594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71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63A81D-9E5F-C9D7-B48E-50B99DAB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B5EBC0-7495-4A41-4E8E-10F744B8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81CF8C-9C0A-2E65-99F6-015FAA78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E2420F-96D8-405C-6985-B161189F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10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45C54F-B686-1790-CF19-E22F9526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46D2A8-C57B-6397-8185-397D407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9D3453-1961-B80F-1ADE-D0EA423E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589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ED856-6296-23B4-05B1-3151214D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496FC-EDED-78F2-0A17-436EBBBD0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EE80AC-45C8-C70F-BB7E-A68FD4214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170737-D7B6-50D7-213A-CB87109E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386860-518B-6B0C-FE38-6005EB1A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AFF180-05BB-5720-46C9-074EA2BC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11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C8148-4C7D-9204-0827-8123B31A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F48BC4-9680-BC74-556D-5B0893C58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C66AC3-6F83-D862-65DB-9BC5B2AE3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ED8450-CA77-5294-A58C-47DD481A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C9C4BC-CD35-A3BB-7D50-A5A3A767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4257AF-BBD4-2A28-7CA5-719E2A87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58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239CE2-B394-3AAB-8AF0-64DA8AC8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E798A8-8989-2AE2-C13D-743AF22D0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749BE5-DC96-9D18-C2E8-8B2D1743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1E0AF8-0F8B-7D0B-25FA-EA2107D8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9CDF7A-842F-67A4-9CEC-FFBB0D78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5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091E97-281A-7D02-F463-5D7239E62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A03AF4-CDBA-DDFC-7DB4-0B26E850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F5D06-845D-3D04-7782-EE7FF08D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16D9EC-297E-97B8-7037-5355B16C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E3CB00-4CF0-F2D5-7EE4-C3FEE344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63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BB7FF0C-4E49-C8C5-1D33-4864C75E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C7DD5D-1210-8E6C-D438-EBD41DBB7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FDB426-0C0F-E982-82F0-485ED3D79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9B9DA-667E-49AB-AE4C-965E042733B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44D0C1-A404-0790-463F-D48832AD0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C01523-B509-99A3-BF69-40B2B3D40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91D00-AC9E-45A7-9B00-7C319351C5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7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DE7C7B-B77F-812F-32FF-CDD8B03A05C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269046-623E-B70E-0257-963CDF5DE3A6}"/>
              </a:ext>
            </a:extLst>
          </p:cNvPr>
          <p:cNvSpPr txBox="1"/>
          <p:nvPr/>
        </p:nvSpPr>
        <p:spPr>
          <a:xfrm>
            <a:off x="787400" y="939800"/>
            <a:ext cx="6858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4400" b="1">
                <a:solidFill>
                  <a:srgbClr val="0F172A"/>
                </a:solidFill>
                <a:latin typeface="Yu Gothic" panose="020B0400000000000000" pitchFamily="50" charset="-128"/>
              </a:rPr>
              <a:t>大阪紹介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EA9D21-0692-1437-6400-90DBACEF1AF6}"/>
              </a:ext>
            </a:extLst>
          </p:cNvPr>
          <p:cNvSpPr txBox="1"/>
          <p:nvPr/>
        </p:nvSpPr>
        <p:spPr>
          <a:xfrm>
            <a:off x="838200" y="1905000"/>
            <a:ext cx="8763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475569"/>
                </a:solidFill>
                <a:latin typeface="Yu Gothic" panose="020B0400000000000000" pitchFamily="50" charset="-128"/>
              </a:rPr>
              <a:t>観光地・歴史・食べ物を</a:t>
            </a:r>
            <a:r>
              <a:rPr kumimoji="1" lang="en-US" altLang="ja-JP" sz="1600">
                <a:solidFill>
                  <a:srgbClr val="475569"/>
                </a:solidFill>
                <a:latin typeface="Yu Gothic" panose="020B0400000000000000" pitchFamily="50" charset="-128"/>
              </a:rPr>
              <a:t>3</a:t>
            </a:r>
            <a:r>
              <a:rPr kumimoji="1" lang="ja-JP" altLang="en-US" sz="1600">
                <a:solidFill>
                  <a:srgbClr val="475569"/>
                </a:solidFill>
                <a:latin typeface="Yu Gothic" panose="020B0400000000000000" pitchFamily="50" charset="-128"/>
              </a:rPr>
              <a:t>つの視点から紹介する</a:t>
            </a:r>
            <a:r>
              <a:rPr kumimoji="1" lang="en-US" altLang="ja-JP" sz="1600">
                <a:solidFill>
                  <a:srgbClr val="475569"/>
                </a:solidFill>
                <a:latin typeface="Yu Gothic" panose="020B0400000000000000" pitchFamily="50" charset="-128"/>
              </a:rPr>
              <a:t>UI/UX</a:t>
            </a:r>
            <a:r>
              <a:rPr kumimoji="1" lang="ja-JP" altLang="en-US" sz="1600">
                <a:solidFill>
                  <a:srgbClr val="475569"/>
                </a:solidFill>
                <a:latin typeface="Yu Gothic" panose="020B0400000000000000" pitchFamily="50" charset="-128"/>
              </a:rPr>
              <a:t>アプリ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150C70-6313-D7C5-EF7C-7AF581BDE7CD}"/>
              </a:ext>
            </a:extLst>
          </p:cNvPr>
          <p:cNvSpPr txBox="1"/>
          <p:nvPr/>
        </p:nvSpPr>
        <p:spPr>
          <a:xfrm>
            <a:off x="838200" y="2641600"/>
            <a:ext cx="279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1D4ED8"/>
                </a:solidFill>
                <a:latin typeface="Yu Gothic" panose="020B0400000000000000" pitchFamily="50" charset="-128"/>
              </a:rPr>
              <a:t>発表用資料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539F17-2B9C-601C-A053-67911E9A763B}"/>
              </a:ext>
            </a:extLst>
          </p:cNvPr>
          <p:cNvSpPr txBox="1"/>
          <p:nvPr/>
        </p:nvSpPr>
        <p:spPr>
          <a:xfrm>
            <a:off x="838200" y="3073400"/>
            <a:ext cx="546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nl-NL" altLang="ja-JP" sz="1200">
                <a:solidFill>
                  <a:srgbClr val="64748B"/>
                </a:solidFill>
                <a:latin typeface="Yu Gothic" panose="020B0400000000000000" pitchFamily="50" charset="-128"/>
              </a:rPr>
              <a:t>Blazor Server / .NET 10 / Light &amp; Dark UI</a:t>
            </a:r>
            <a:endParaRPr kumimoji="1" lang="ja-JP" altLang="en-US" sz="12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247808D-FD89-C888-622E-2284B0EA2B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193800"/>
            <a:ext cx="1498600" cy="1498600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84649C8-6E2E-8959-4B76-F1B754EFB926}"/>
              </a:ext>
            </a:extLst>
          </p:cNvPr>
          <p:cNvSpPr/>
          <p:nvPr/>
        </p:nvSpPr>
        <p:spPr>
          <a:xfrm>
            <a:off x="838200" y="4241800"/>
            <a:ext cx="3175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4416C65-BE70-B08D-07B0-A8A35D48C887}"/>
              </a:ext>
            </a:extLst>
          </p:cNvPr>
          <p:cNvSpPr/>
          <p:nvPr/>
        </p:nvSpPr>
        <p:spPr>
          <a:xfrm>
            <a:off x="1066800" y="44704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2F4D01-4472-9AE9-A1FC-B3F544AA7B00}"/>
              </a:ext>
            </a:extLst>
          </p:cNvPr>
          <p:cNvSpPr txBox="1"/>
          <p:nvPr/>
        </p:nvSpPr>
        <p:spPr>
          <a:xfrm>
            <a:off x="1346200" y="4406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目的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F06796-C94E-C65B-C47E-9EFFE59A0974}"/>
              </a:ext>
            </a:extLst>
          </p:cNvPr>
          <p:cNvSpPr txBox="1"/>
          <p:nvPr/>
        </p:nvSpPr>
        <p:spPr>
          <a:xfrm>
            <a:off x="1066800" y="4876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大阪の情報を、短時間で分かりやすく閲覧できる形に整理する。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AE36B51-5D0D-E405-23FD-0BE6CD5DC986}"/>
              </a:ext>
            </a:extLst>
          </p:cNvPr>
          <p:cNvSpPr/>
          <p:nvPr/>
        </p:nvSpPr>
        <p:spPr>
          <a:xfrm>
            <a:off x="4445000" y="4241800"/>
            <a:ext cx="3175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7706D69-4C97-E7ED-6110-42F9471F0DA0}"/>
              </a:ext>
            </a:extLst>
          </p:cNvPr>
          <p:cNvSpPr/>
          <p:nvPr/>
        </p:nvSpPr>
        <p:spPr>
          <a:xfrm>
            <a:off x="4673600" y="44704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C73088-B75E-AA72-4A7D-B86790D81677}"/>
              </a:ext>
            </a:extLst>
          </p:cNvPr>
          <p:cNvSpPr txBox="1"/>
          <p:nvPr/>
        </p:nvSpPr>
        <p:spPr>
          <a:xfrm>
            <a:off x="4953000" y="4406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画面構成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F53D6F4-5C99-2718-674F-608AAA502111}"/>
              </a:ext>
            </a:extLst>
          </p:cNvPr>
          <p:cNvSpPr txBox="1"/>
          <p:nvPr/>
        </p:nvSpPr>
        <p:spPr>
          <a:xfrm>
            <a:off x="4673600" y="4876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カテゴリカード、ランダム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hero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、記事モーダル、画像プレビューで構成。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30AB0E5-BC47-6DFB-71D5-DEB624857EC4}"/>
              </a:ext>
            </a:extLst>
          </p:cNvPr>
          <p:cNvSpPr/>
          <p:nvPr/>
        </p:nvSpPr>
        <p:spPr>
          <a:xfrm>
            <a:off x="8051800" y="4241800"/>
            <a:ext cx="3175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F996ED8-570B-1B02-A23A-FE5D6AD660DD}"/>
              </a:ext>
            </a:extLst>
          </p:cNvPr>
          <p:cNvSpPr/>
          <p:nvPr/>
        </p:nvSpPr>
        <p:spPr>
          <a:xfrm>
            <a:off x="8280400" y="44704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4278C7-5A2C-BEAD-F4DF-D507530470EF}"/>
              </a:ext>
            </a:extLst>
          </p:cNvPr>
          <p:cNvSpPr txBox="1"/>
          <p:nvPr/>
        </p:nvSpPr>
        <p:spPr>
          <a:xfrm>
            <a:off x="8559800" y="4406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対応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B76C511-3C68-6FE9-A1BF-974FD11572AF}"/>
              </a:ext>
            </a:extLst>
          </p:cNvPr>
          <p:cNvSpPr txBox="1"/>
          <p:nvPr/>
        </p:nvSpPr>
        <p:spPr>
          <a:xfrm>
            <a:off x="8280400" y="48768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ライトモードとダークモードの両方に対応。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088C26A-D122-B2A4-793A-DCACF6F08EA9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FCF73AE-3F3F-536B-DDB9-EDFF797953BB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01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608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DEC35B-B28E-F71D-553F-43F0F1CD8F9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664B00-D5F1-1567-E81C-D7B69D8CBD25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対象ユーザー（ペルソナ）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4206F8-C92A-19E2-73A3-D490642DA1DD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大阪に詳しくない人が、短時間で概要をつかめることを想定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B89CCB5-BE78-2D76-1B31-BC8D00D46536}"/>
              </a:ext>
            </a:extLst>
          </p:cNvPr>
          <p:cNvSpPr/>
          <p:nvPr/>
        </p:nvSpPr>
        <p:spPr>
          <a:xfrm>
            <a:off x="889000" y="2082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A88AC88-594C-5F7B-382C-02AAF6D8F473}"/>
              </a:ext>
            </a:extLst>
          </p:cNvPr>
          <p:cNvSpPr/>
          <p:nvPr/>
        </p:nvSpPr>
        <p:spPr>
          <a:xfrm>
            <a:off x="1117600" y="23114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70C003-1435-B605-3FB3-58E181A0D570}"/>
              </a:ext>
            </a:extLst>
          </p:cNvPr>
          <p:cNvSpPr txBox="1"/>
          <p:nvPr/>
        </p:nvSpPr>
        <p:spPr>
          <a:xfrm>
            <a:off x="13970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ペルソナ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F55AEBB-F78F-A8EF-CD21-2C517A5CBD04}"/>
              </a:ext>
            </a:extLst>
          </p:cNvPr>
          <p:cNvSpPr txBox="1"/>
          <p:nvPr/>
        </p:nvSpPr>
        <p:spPr>
          <a:xfrm>
            <a:off x="11176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年齢</a:t>
            </a:r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: 18〜22</a:t>
            </a:r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歳 </a:t>
            </a:r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目的</a:t>
            </a:r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: </a:t>
            </a:r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大阪について旅行前に軽く調べたい。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F295A2E-D3CA-96FB-401B-A0F2B153266F}"/>
              </a:ext>
            </a:extLst>
          </p:cNvPr>
          <p:cNvSpPr/>
          <p:nvPr/>
        </p:nvSpPr>
        <p:spPr>
          <a:xfrm>
            <a:off x="4521200" y="2082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4633F2-0D23-0ECC-AFDA-CA18343D40E3}"/>
              </a:ext>
            </a:extLst>
          </p:cNvPr>
          <p:cNvSpPr/>
          <p:nvPr/>
        </p:nvSpPr>
        <p:spPr>
          <a:xfrm>
            <a:off x="4749800" y="23114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D0D9B6-556E-A889-4BB5-F44F0AC08404}"/>
              </a:ext>
            </a:extLst>
          </p:cNvPr>
          <p:cNvSpPr txBox="1"/>
          <p:nvPr/>
        </p:nvSpPr>
        <p:spPr>
          <a:xfrm>
            <a:off x="50292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困りごと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9351722-67B4-7F2D-C592-E0838403048D}"/>
              </a:ext>
            </a:extLst>
          </p:cNvPr>
          <p:cNvSpPr txBox="1"/>
          <p:nvPr/>
        </p:nvSpPr>
        <p:spPr>
          <a:xfrm>
            <a:off x="47498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検索結果は情報量が多く、どこから見ればよいか分かりにくい。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B7C930A-BE3C-64E5-1B85-FB04D62FD22B}"/>
              </a:ext>
            </a:extLst>
          </p:cNvPr>
          <p:cNvSpPr/>
          <p:nvPr/>
        </p:nvSpPr>
        <p:spPr>
          <a:xfrm>
            <a:off x="8153400" y="2082800"/>
            <a:ext cx="3175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DB440CC-6709-038B-0EA9-55ECEAC27971}"/>
              </a:ext>
            </a:extLst>
          </p:cNvPr>
          <p:cNvSpPr/>
          <p:nvPr/>
        </p:nvSpPr>
        <p:spPr>
          <a:xfrm>
            <a:off x="8382000" y="23114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E35E18F-7A2B-F589-EC22-758EC9372375}"/>
              </a:ext>
            </a:extLst>
          </p:cNvPr>
          <p:cNvSpPr txBox="1"/>
          <p:nvPr/>
        </p:nvSpPr>
        <p:spPr>
          <a:xfrm>
            <a:off x="86614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求める体験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8E50E81-E89D-B706-7F55-35E050B51A4D}"/>
              </a:ext>
            </a:extLst>
          </p:cNvPr>
          <p:cNvSpPr txBox="1"/>
          <p:nvPr/>
        </p:nvSpPr>
        <p:spPr>
          <a:xfrm>
            <a:off x="83820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観光・歴史・食べ物を分けて見たい。画像つきで直感的に知りたい。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C7258ACC-CA79-F69D-CD7B-2804BA261FEE}"/>
              </a:ext>
            </a:extLst>
          </p:cNvPr>
          <p:cNvSpPr/>
          <p:nvPr/>
        </p:nvSpPr>
        <p:spPr>
          <a:xfrm>
            <a:off x="1168400" y="5080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360B85-09D0-4F7F-563A-A2B94BFFD453}"/>
              </a:ext>
            </a:extLst>
          </p:cNvPr>
          <p:cNvSpPr txBox="1"/>
          <p:nvPr/>
        </p:nvSpPr>
        <p:spPr>
          <a:xfrm>
            <a:off x="1447800" y="49784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 dirty="0">
                <a:solidFill>
                  <a:srgbClr val="475569"/>
                </a:solidFill>
                <a:latin typeface="Yu Gothic" panose="020B0400000000000000" pitchFamily="50" charset="-128"/>
              </a:rPr>
              <a:t>長い文章より、短い説明と画像で概要を知りたい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D9F0D103-5231-DAAD-CAE0-0AD6F71A04FC}"/>
              </a:ext>
            </a:extLst>
          </p:cNvPr>
          <p:cNvSpPr/>
          <p:nvPr/>
        </p:nvSpPr>
        <p:spPr>
          <a:xfrm>
            <a:off x="1168400" y="54864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5995983-A2B4-F011-1C94-384A4963D483}"/>
              </a:ext>
            </a:extLst>
          </p:cNvPr>
          <p:cNvSpPr txBox="1"/>
          <p:nvPr/>
        </p:nvSpPr>
        <p:spPr>
          <a:xfrm>
            <a:off x="1447800" y="53848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スマホでも</a:t>
            </a:r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PC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でも、迷わず記事を開ける</a:t>
            </a:r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UI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を求めている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DC1B1C5-0EE2-A0AB-C0D0-63BD01483037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8C20DC8-63B6-CEC4-37EF-2048F4F83A1C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02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763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597B2D-1859-C496-8315-29710090372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B6F546-0339-AFC1-2E9B-2AC72BF5FC18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アプリの特徴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0FDD64-DC33-A506-9AB4-67AA5FFD7DFD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一覧性と詳細閲覧を両立した大阪紹介アプリ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3574789-6856-6278-4EA9-E6FC4D1756DC}"/>
              </a:ext>
            </a:extLst>
          </p:cNvPr>
          <p:cNvSpPr/>
          <p:nvPr/>
        </p:nvSpPr>
        <p:spPr>
          <a:xfrm>
            <a:off x="812800" y="2006600"/>
            <a:ext cx="3225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F5D2C82-E205-8348-2E92-04D3840B168C}"/>
              </a:ext>
            </a:extLst>
          </p:cNvPr>
          <p:cNvSpPr/>
          <p:nvPr/>
        </p:nvSpPr>
        <p:spPr>
          <a:xfrm>
            <a:off x="1041400" y="22352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5548C6-54DB-901A-6537-055882827CE8}"/>
              </a:ext>
            </a:extLst>
          </p:cNvPr>
          <p:cNvSpPr txBox="1"/>
          <p:nvPr/>
        </p:nvSpPr>
        <p:spPr>
          <a:xfrm>
            <a:off x="1320800" y="2171700"/>
            <a:ext cx="2514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3</a:t>
            </a:r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カテゴリ構成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19526E-9D38-E370-2944-0965532570AD}"/>
              </a:ext>
            </a:extLst>
          </p:cNvPr>
          <p:cNvSpPr txBox="1"/>
          <p:nvPr/>
        </p:nvSpPr>
        <p:spPr>
          <a:xfrm>
            <a:off x="1041400" y="2641600"/>
            <a:ext cx="2768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観光地・歴史・食べ物に分類し、情報の入口を分かりやすくした。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6C176F5-7A54-6F68-1032-DC124BFA9424}"/>
              </a:ext>
            </a:extLst>
          </p:cNvPr>
          <p:cNvSpPr/>
          <p:nvPr/>
        </p:nvSpPr>
        <p:spPr>
          <a:xfrm>
            <a:off x="4495800" y="2006600"/>
            <a:ext cx="3225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FDE2949-ED65-559F-5D28-D1D6BD168251}"/>
              </a:ext>
            </a:extLst>
          </p:cNvPr>
          <p:cNvSpPr/>
          <p:nvPr/>
        </p:nvSpPr>
        <p:spPr>
          <a:xfrm>
            <a:off x="4724400" y="22352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4E54C3-EE65-F175-B921-D16E0B37E7A5}"/>
              </a:ext>
            </a:extLst>
          </p:cNvPr>
          <p:cNvSpPr txBox="1"/>
          <p:nvPr/>
        </p:nvSpPr>
        <p:spPr>
          <a:xfrm>
            <a:off x="5003800" y="2171700"/>
            <a:ext cx="2514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ランダム</a:t>
            </a:r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hero</a:t>
            </a:r>
            <a:endParaRPr kumimoji="1" lang="ja-JP" altLang="en-US" sz="14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CAC766-2260-0B30-53D3-297616766ED6}"/>
              </a:ext>
            </a:extLst>
          </p:cNvPr>
          <p:cNvSpPr txBox="1"/>
          <p:nvPr/>
        </p:nvSpPr>
        <p:spPr>
          <a:xfrm>
            <a:off x="4724400" y="2641600"/>
            <a:ext cx="2768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topic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画像をランダムに表示し、クリックで対応記事を直接開ける。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15DBD6B-EE0B-612A-81E0-A9C4E6FE0AE1}"/>
              </a:ext>
            </a:extLst>
          </p:cNvPr>
          <p:cNvSpPr/>
          <p:nvPr/>
        </p:nvSpPr>
        <p:spPr>
          <a:xfrm>
            <a:off x="8178800" y="2006600"/>
            <a:ext cx="3225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E781472-E55A-C8CF-B934-3E869F8159BF}"/>
              </a:ext>
            </a:extLst>
          </p:cNvPr>
          <p:cNvSpPr/>
          <p:nvPr/>
        </p:nvSpPr>
        <p:spPr>
          <a:xfrm>
            <a:off x="8407400" y="22352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B20A525-170E-0F46-CF5F-E70AA2ADE05F}"/>
              </a:ext>
            </a:extLst>
          </p:cNvPr>
          <p:cNvSpPr txBox="1"/>
          <p:nvPr/>
        </p:nvSpPr>
        <p:spPr>
          <a:xfrm>
            <a:off x="8686800" y="2171700"/>
            <a:ext cx="2514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記事モーダル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C52B6CE-05FC-D04A-10D7-8C2E899BA636}"/>
              </a:ext>
            </a:extLst>
          </p:cNvPr>
          <p:cNvSpPr txBox="1"/>
          <p:nvPr/>
        </p:nvSpPr>
        <p:spPr>
          <a:xfrm>
            <a:off x="8407400" y="2641600"/>
            <a:ext cx="2768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ページ遷移なしで記事一覧と本文を切り替えられる。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5DA4B4E1-F835-27E1-732C-49C70120A934}"/>
              </a:ext>
            </a:extLst>
          </p:cNvPr>
          <p:cNvSpPr/>
          <p:nvPr/>
        </p:nvSpPr>
        <p:spPr>
          <a:xfrm>
            <a:off x="1193800" y="4953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B583D5A-F7A8-1223-266E-647072F0F8B4}"/>
              </a:ext>
            </a:extLst>
          </p:cNvPr>
          <p:cNvSpPr txBox="1"/>
          <p:nvPr/>
        </p:nvSpPr>
        <p:spPr>
          <a:xfrm>
            <a:off x="1473200" y="48514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画像拡大プレビューに対応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5D83DEC9-B071-C673-7A15-AD692055F236}"/>
              </a:ext>
            </a:extLst>
          </p:cNvPr>
          <p:cNvSpPr/>
          <p:nvPr/>
        </p:nvSpPr>
        <p:spPr>
          <a:xfrm>
            <a:off x="1193800" y="5334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FDD1A6-F9F1-A588-EDBD-EE6E56B586EE}"/>
              </a:ext>
            </a:extLst>
          </p:cNvPr>
          <p:cNvSpPr txBox="1"/>
          <p:nvPr/>
        </p:nvSpPr>
        <p:spPr>
          <a:xfrm>
            <a:off x="1473200" y="52324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ライトモード・ダークモード切替に対応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16827007-7EA0-CDC1-F8F8-4BFAA77BD042}"/>
              </a:ext>
            </a:extLst>
          </p:cNvPr>
          <p:cNvSpPr/>
          <p:nvPr/>
        </p:nvSpPr>
        <p:spPr>
          <a:xfrm>
            <a:off x="1193800" y="5715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3BC38B1-2C12-B4C9-B4B0-6FD21800ABA6}"/>
              </a:ext>
            </a:extLst>
          </p:cNvPr>
          <p:cNvSpPr txBox="1"/>
          <p:nvPr/>
        </p:nvSpPr>
        <p:spPr>
          <a:xfrm>
            <a:off x="1473200" y="56134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キーボード操作時のフォーカス表示も用意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446F4E9-1FD0-6B1F-27E8-90458A5FB052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A7CFC2E-37E9-B28B-B894-54ECC7F3CA0B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03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720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4B7375-C2B7-1E61-793E-638AAEC58F7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F84132-0EDF-DF98-677A-601EE8EDC471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導入・起動環境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A4B47D-0568-F5BC-0549-436A2ECB1034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開発環境と配布環境の両方を想定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7780CCC-5D91-8FA4-2F64-AE8752E2BE98}"/>
              </a:ext>
            </a:extLst>
          </p:cNvPr>
          <p:cNvSpPr/>
          <p:nvPr/>
        </p:nvSpPr>
        <p:spPr>
          <a:xfrm>
            <a:off x="990600" y="2006600"/>
            <a:ext cx="4826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2D0CBDEE-1BC3-3B9E-DBC0-F6ABAB64A856}"/>
              </a:ext>
            </a:extLst>
          </p:cNvPr>
          <p:cNvSpPr/>
          <p:nvPr/>
        </p:nvSpPr>
        <p:spPr>
          <a:xfrm>
            <a:off x="1219200" y="22352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D0F16A-063C-A976-9CB8-5E8AF721E2A6}"/>
              </a:ext>
            </a:extLst>
          </p:cNvPr>
          <p:cNvSpPr txBox="1"/>
          <p:nvPr/>
        </p:nvSpPr>
        <p:spPr>
          <a:xfrm>
            <a:off x="1498600" y="2171700"/>
            <a:ext cx="411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開発時の起動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9AECDD1-0A99-E3A8-8CCB-755AD1F0A435}"/>
              </a:ext>
            </a:extLst>
          </p:cNvPr>
          <p:cNvSpPr txBox="1"/>
          <p:nvPr/>
        </p:nvSpPr>
        <p:spPr>
          <a:xfrm>
            <a:off x="1219200" y="2641600"/>
            <a:ext cx="4368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必要環境</a:t>
            </a:r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: </a:t>
            </a:r>
          </a:p>
          <a:p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.NET 10 SDK / Windows / Visual Studio</a:t>
            </a:r>
            <a:r>
              <a:rPr kumimoji="1" lang="ja-JP" altLang="en-US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。起動コマンド</a:t>
            </a:r>
            <a:r>
              <a:rPr kumimoji="1" lang="en-US" altLang="ja-JP" sz="1100" dirty="0">
                <a:solidFill>
                  <a:srgbClr val="475569"/>
                </a:solidFill>
                <a:latin typeface="Yu Gothic" panose="020B0400000000000000" pitchFamily="50" charset="-128"/>
              </a:rPr>
              <a:t>: dotnet run</a:t>
            </a:r>
            <a:endParaRPr kumimoji="1" lang="ja-JP" altLang="en-US" sz="1100" dirty="0">
              <a:solidFill>
                <a:srgbClr val="475569"/>
              </a:solidFill>
              <a:latin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6C1E9A4-EC72-985E-9796-C199C52D116E}"/>
              </a:ext>
            </a:extLst>
          </p:cNvPr>
          <p:cNvSpPr/>
          <p:nvPr/>
        </p:nvSpPr>
        <p:spPr>
          <a:xfrm>
            <a:off x="6375400" y="2006600"/>
            <a:ext cx="4826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746334C3-039D-8050-907C-58045CBB8ABD}"/>
              </a:ext>
            </a:extLst>
          </p:cNvPr>
          <p:cNvSpPr/>
          <p:nvPr/>
        </p:nvSpPr>
        <p:spPr>
          <a:xfrm>
            <a:off x="6604000" y="22352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AEA483-6848-9AE3-9748-26EA9EFF7000}"/>
              </a:ext>
            </a:extLst>
          </p:cNvPr>
          <p:cNvSpPr txBox="1"/>
          <p:nvPr/>
        </p:nvSpPr>
        <p:spPr>
          <a:xfrm>
            <a:off x="6883400" y="2171700"/>
            <a:ext cx="411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配布時の起動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D18E509-0762-EB92-904F-C12CDAAC720E}"/>
              </a:ext>
            </a:extLst>
          </p:cNvPr>
          <p:cNvSpPr txBox="1"/>
          <p:nvPr/>
        </p:nvSpPr>
        <p:spPr>
          <a:xfrm>
            <a:off x="6604000" y="2641600"/>
            <a:ext cx="4368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dotnet publish -c Release 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で作成した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publish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フォルダを配布。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exe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単体ではなくフォルダごと渡す。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8F8A37E-33F9-A0A5-7278-0DE8413A6109}"/>
              </a:ext>
            </a:extLst>
          </p:cNvPr>
          <p:cNvSpPr/>
          <p:nvPr/>
        </p:nvSpPr>
        <p:spPr>
          <a:xfrm>
            <a:off x="1219200" y="50038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A1D1C6-9EAA-6E87-3DCB-3D067E3C6A5F}"/>
              </a:ext>
            </a:extLst>
          </p:cNvPr>
          <p:cNvSpPr txBox="1"/>
          <p:nvPr/>
        </p:nvSpPr>
        <p:spPr>
          <a:xfrm>
            <a:off x="1498600" y="49022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ブラウザ</a:t>
            </a:r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: Microsoft Edge / Google Chrome 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など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B08E502-42B3-A650-18DD-105B29902BFE}"/>
              </a:ext>
            </a:extLst>
          </p:cNvPr>
          <p:cNvSpPr/>
          <p:nvPr/>
        </p:nvSpPr>
        <p:spPr>
          <a:xfrm>
            <a:off x="1219200" y="54102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AAC006C-5CF2-9793-8C98-855170BEDADE}"/>
              </a:ext>
            </a:extLst>
          </p:cNvPr>
          <p:cNvSpPr txBox="1"/>
          <p:nvPr/>
        </p:nvSpPr>
        <p:spPr>
          <a:xfrm>
            <a:off x="1498600" y="53086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画像は </a:t>
            </a:r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wwwroot/images 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配下の静的アセットとして利用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A358952-BDF0-EB1F-D09E-7A5B0323AF53}"/>
              </a:ext>
            </a:extLst>
          </p:cNvPr>
          <p:cNvSpPr/>
          <p:nvPr/>
        </p:nvSpPr>
        <p:spPr>
          <a:xfrm>
            <a:off x="1219200" y="58166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305AF63-B9A8-B35C-9F8A-9B33B6A1A85B}"/>
              </a:ext>
            </a:extLst>
          </p:cNvPr>
          <p:cNvSpPr txBox="1"/>
          <p:nvPr/>
        </p:nvSpPr>
        <p:spPr>
          <a:xfrm>
            <a:off x="1498600" y="57150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起動後、表示されたローカル</a:t>
            </a:r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URL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をブラウザで開く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4798663-F670-AF25-5E2E-7675045C3F91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634DE5B-7DB3-3111-65CC-EE7543B1CDC4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04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644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2EE4F0-8745-BD65-AD20-1AB3C2E1BA8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6FAEF4-56BE-F011-D934-CA0A94B36246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zh-TW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仕様書（画面構成）</a:t>
            </a:r>
            <a:endParaRPr kumimoji="1" lang="ja-JP" altLang="en-US" sz="30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702A8E-2D96-2D09-83F6-B6A23A18F1E0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ユーザーが見る主な画面要素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B3CCFA2-2F2F-DD50-14FD-2880004FDCAC}"/>
              </a:ext>
            </a:extLst>
          </p:cNvPr>
          <p:cNvSpPr/>
          <p:nvPr/>
        </p:nvSpPr>
        <p:spPr>
          <a:xfrm>
            <a:off x="8382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B040BB-364E-8C37-EC17-9650EB9DCEE0}"/>
              </a:ext>
            </a:extLst>
          </p:cNvPr>
          <p:cNvSpPr/>
          <p:nvPr/>
        </p:nvSpPr>
        <p:spPr>
          <a:xfrm>
            <a:off x="1066800" y="22098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AA960C-DE91-B467-83C4-6595B2C0B5EF}"/>
              </a:ext>
            </a:extLst>
          </p:cNvPr>
          <p:cNvSpPr txBox="1"/>
          <p:nvPr/>
        </p:nvSpPr>
        <p:spPr>
          <a:xfrm>
            <a:off x="13462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ヘッダー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4FA0BD6-80B5-ED66-A2C4-AD1862810441}"/>
              </a:ext>
            </a:extLst>
          </p:cNvPr>
          <p:cNvSpPr txBox="1"/>
          <p:nvPr/>
        </p:nvSpPr>
        <p:spPr>
          <a:xfrm>
            <a:off x="1066800" y="26162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ロゴ、アプリ名、テーマ切替ボタンを配置。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223F94B-4948-05AF-8643-0C2BFBA7C003}"/>
              </a:ext>
            </a:extLst>
          </p:cNvPr>
          <p:cNvSpPr/>
          <p:nvPr/>
        </p:nvSpPr>
        <p:spPr>
          <a:xfrm>
            <a:off x="45212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1C66AF7-0FA2-732E-3926-1BD86F4E48EF}"/>
              </a:ext>
            </a:extLst>
          </p:cNvPr>
          <p:cNvSpPr/>
          <p:nvPr/>
        </p:nvSpPr>
        <p:spPr>
          <a:xfrm>
            <a:off x="4749800" y="22098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D176BE-75CB-1081-64D9-725DD0107F8F}"/>
              </a:ext>
            </a:extLst>
          </p:cNvPr>
          <p:cNvSpPr txBox="1"/>
          <p:nvPr/>
        </p:nvSpPr>
        <p:spPr>
          <a:xfrm>
            <a:off x="50292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Home</a:t>
            </a:r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画面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161670-D685-578D-7D73-2BB05E482EB5}"/>
              </a:ext>
            </a:extLst>
          </p:cNvPr>
          <p:cNvSpPr txBox="1"/>
          <p:nvPr/>
        </p:nvSpPr>
        <p:spPr>
          <a:xfrm>
            <a:off x="4749800" y="26162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説明文、ランダム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hero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、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3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つの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topic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カードを表示。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DBE5394-3B6F-7418-A428-2B5C5E94B5B8}"/>
              </a:ext>
            </a:extLst>
          </p:cNvPr>
          <p:cNvSpPr/>
          <p:nvPr/>
        </p:nvSpPr>
        <p:spPr>
          <a:xfrm>
            <a:off x="82042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D675252-1D84-A4DB-9018-EA148435962D}"/>
              </a:ext>
            </a:extLst>
          </p:cNvPr>
          <p:cNvSpPr/>
          <p:nvPr/>
        </p:nvSpPr>
        <p:spPr>
          <a:xfrm>
            <a:off x="8432800" y="22098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2D41EA4-008E-3527-D0E2-8F382CA2DC2A}"/>
              </a:ext>
            </a:extLst>
          </p:cNvPr>
          <p:cNvSpPr txBox="1"/>
          <p:nvPr/>
        </p:nvSpPr>
        <p:spPr>
          <a:xfrm>
            <a:off x="87122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モーダル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1C878A2-B586-9BE1-F6CB-D78C9946594A}"/>
              </a:ext>
            </a:extLst>
          </p:cNvPr>
          <p:cNvSpPr txBox="1"/>
          <p:nvPr/>
        </p:nvSpPr>
        <p:spPr>
          <a:xfrm>
            <a:off x="8432800" y="26162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topic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内の記事一覧、本文、画像、閉じるボタンを表示。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CDA669F2-CB9C-DFEC-93A9-B7D4A0CE5052}"/>
              </a:ext>
            </a:extLst>
          </p:cNvPr>
          <p:cNvSpPr/>
          <p:nvPr/>
        </p:nvSpPr>
        <p:spPr>
          <a:xfrm>
            <a:off x="1219200" y="4953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50BA4F8-CDD7-BE7A-28DA-9DDE1B58DC2B}"/>
              </a:ext>
            </a:extLst>
          </p:cNvPr>
          <p:cNvSpPr txBox="1"/>
          <p:nvPr/>
        </p:nvSpPr>
        <p:spPr>
          <a:xfrm>
            <a:off x="1498600" y="48514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画像クリック時はライトボックスで拡大表示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9B0F7F5-D47D-F11A-53FE-4FCE23EFEDB5}"/>
              </a:ext>
            </a:extLst>
          </p:cNvPr>
          <p:cNvSpPr/>
          <p:nvPr/>
        </p:nvSpPr>
        <p:spPr>
          <a:xfrm>
            <a:off x="1219200" y="53594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3F9119E-4B38-08B8-B7A5-01D227A36E41}"/>
              </a:ext>
            </a:extLst>
          </p:cNvPr>
          <p:cNvSpPr txBox="1"/>
          <p:nvPr/>
        </p:nvSpPr>
        <p:spPr>
          <a:xfrm>
            <a:off x="1498600" y="5257800"/>
            <a:ext cx="9372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フッターはコンテンツ量に合わせて下部に表示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33D839D-39A3-5C05-8F3A-BC41B95CD2C4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709DF7-8C4A-912C-DD7F-E754482F6DF5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05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316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3D9B34-25CA-A5B6-1480-0BD9E09FFB9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9C3D6F-AC4C-D5C3-5BCA-B98C2D0B1E3E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zh-TW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仕様書（操作手順）</a:t>
            </a:r>
            <a:endParaRPr kumimoji="1" lang="ja-JP" altLang="en-US" sz="30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BADAF7-84C1-45D5-F8EE-ACFB9BF21F60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基本操作を簡潔に整理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2C25F05-EE53-8BE1-9828-CC6181DA7F63}"/>
              </a:ext>
            </a:extLst>
          </p:cNvPr>
          <p:cNvSpPr/>
          <p:nvPr/>
        </p:nvSpPr>
        <p:spPr>
          <a:xfrm>
            <a:off x="1092200" y="20828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FA0A46-5058-23B6-4D4A-E4F49D104FD7}"/>
              </a:ext>
            </a:extLst>
          </p:cNvPr>
          <p:cNvSpPr txBox="1"/>
          <p:nvPr/>
        </p:nvSpPr>
        <p:spPr>
          <a:xfrm>
            <a:off x="1371600" y="19812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1. Home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画面を開く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9BDC0EF-DBDF-BE38-DC07-5A26A3BC7AE4}"/>
              </a:ext>
            </a:extLst>
          </p:cNvPr>
          <p:cNvSpPr/>
          <p:nvPr/>
        </p:nvSpPr>
        <p:spPr>
          <a:xfrm>
            <a:off x="1092200" y="26289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1E3848-C7FE-ACC6-9640-94044DD81020}"/>
              </a:ext>
            </a:extLst>
          </p:cNvPr>
          <p:cNvSpPr txBox="1"/>
          <p:nvPr/>
        </p:nvSpPr>
        <p:spPr>
          <a:xfrm>
            <a:off x="1371600" y="25273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2. 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右上の</a:t>
            </a:r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hero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画像、または</a:t>
            </a:r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つの</a:t>
            </a:r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topic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カードから興味のある項目を選ぶ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EBFF05A-7239-5D71-1489-ACEA65FD8721}"/>
              </a:ext>
            </a:extLst>
          </p:cNvPr>
          <p:cNvSpPr/>
          <p:nvPr/>
        </p:nvSpPr>
        <p:spPr>
          <a:xfrm>
            <a:off x="1092200" y="31750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4BA127C-FD7B-D28F-820B-8859EC1B811C}"/>
              </a:ext>
            </a:extLst>
          </p:cNvPr>
          <p:cNvSpPr txBox="1"/>
          <p:nvPr/>
        </p:nvSpPr>
        <p:spPr>
          <a:xfrm>
            <a:off x="1371600" y="30734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3. 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モーダル内の左側または上部の記事一覧から記事を切り替える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3B7CC39-1E59-690E-909C-FD912807CC20}"/>
              </a:ext>
            </a:extLst>
          </p:cNvPr>
          <p:cNvSpPr/>
          <p:nvPr/>
        </p:nvSpPr>
        <p:spPr>
          <a:xfrm>
            <a:off x="1092200" y="37211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2FDC815-EE1C-5B39-E1C3-78B190A17A20}"/>
              </a:ext>
            </a:extLst>
          </p:cNvPr>
          <p:cNvSpPr txBox="1"/>
          <p:nvPr/>
        </p:nvSpPr>
        <p:spPr>
          <a:xfrm>
            <a:off x="1371600" y="36195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4. 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記事画像をクリックすると、拡大プレビューを表示する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4A07BC7-809F-6F65-690B-690BC1907558}"/>
              </a:ext>
            </a:extLst>
          </p:cNvPr>
          <p:cNvSpPr/>
          <p:nvPr/>
        </p:nvSpPr>
        <p:spPr>
          <a:xfrm>
            <a:off x="1092200" y="42672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FEB8954-0F46-A425-316A-551827895A24}"/>
              </a:ext>
            </a:extLst>
          </p:cNvPr>
          <p:cNvSpPr txBox="1"/>
          <p:nvPr/>
        </p:nvSpPr>
        <p:spPr>
          <a:xfrm>
            <a:off x="1371600" y="41656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5. 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閉じるボタン、背景クリック、</a:t>
            </a:r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Esc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キーでモーダルを閉じる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B29A3E0-EAFD-F859-6200-E839A38039D8}"/>
              </a:ext>
            </a:extLst>
          </p:cNvPr>
          <p:cNvSpPr/>
          <p:nvPr/>
        </p:nvSpPr>
        <p:spPr>
          <a:xfrm>
            <a:off x="1092200" y="48133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4283DF-BC30-4E31-52F5-53222B1D9FD1}"/>
              </a:ext>
            </a:extLst>
          </p:cNvPr>
          <p:cNvSpPr txBox="1"/>
          <p:nvPr/>
        </p:nvSpPr>
        <p:spPr>
          <a:xfrm>
            <a:off x="1371600" y="4711700"/>
            <a:ext cx="10007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6. Mode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ボタンでライトモード </a:t>
            </a:r>
            <a:r>
              <a:rPr kumimoji="1" lang="en-US" altLang="ja-JP" sz="1400">
                <a:solidFill>
                  <a:srgbClr val="475569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400">
                <a:solidFill>
                  <a:srgbClr val="475569"/>
                </a:solidFill>
                <a:latin typeface="Yu Gothic" panose="020B0400000000000000" pitchFamily="50" charset="-128"/>
              </a:rPr>
              <a:t>ダークモードを切り替える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BAB9E1D-7554-887A-FD67-11902FBD8F30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084CC1-F4DD-5D55-27D0-10529754E71E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06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055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C03A13-7B75-2B0F-AAAB-8F86701778C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8EC184-DD16-1705-DC63-BFF158D1BD99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使用言語・技術スタック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122663-1F2A-2D47-AEDA-4F7B7910892A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アプリ制作で使用した言語・フレームワーク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1E4F8FD-1EBF-167B-89FB-F54753FF2006}"/>
              </a:ext>
            </a:extLst>
          </p:cNvPr>
          <p:cNvSpPr/>
          <p:nvPr/>
        </p:nvSpPr>
        <p:spPr>
          <a:xfrm>
            <a:off x="8890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416098EF-4E44-309C-AF99-5EF32145700C}"/>
              </a:ext>
            </a:extLst>
          </p:cNvPr>
          <p:cNvSpPr/>
          <p:nvPr/>
        </p:nvSpPr>
        <p:spPr>
          <a:xfrm>
            <a:off x="1117600" y="22098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1BA938B-8F01-3AFB-FE21-A2AC5BF1FB0A}"/>
              </a:ext>
            </a:extLst>
          </p:cNvPr>
          <p:cNvSpPr txBox="1"/>
          <p:nvPr/>
        </p:nvSpPr>
        <p:spPr>
          <a:xfrm>
            <a:off x="13970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C#</a:t>
            </a:r>
            <a:endParaRPr kumimoji="1" lang="ja-JP" altLang="en-US" sz="14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5D6C5B-6E85-68DA-961E-D7D1871AB0FF}"/>
              </a:ext>
            </a:extLst>
          </p:cNvPr>
          <p:cNvSpPr txBox="1"/>
          <p:nvPr/>
        </p:nvSpPr>
        <p:spPr>
          <a:xfrm>
            <a:off x="1117600" y="26162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Blazor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コンポーネントの状態管理、モーダル制御、データサービスで使用。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19A72D1-12D3-F867-14BA-F742B361BAF5}"/>
              </a:ext>
            </a:extLst>
          </p:cNvPr>
          <p:cNvSpPr/>
          <p:nvPr/>
        </p:nvSpPr>
        <p:spPr>
          <a:xfrm>
            <a:off x="45212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761E8030-89C9-761F-2595-6BFFC957BCAA}"/>
              </a:ext>
            </a:extLst>
          </p:cNvPr>
          <p:cNvSpPr/>
          <p:nvPr/>
        </p:nvSpPr>
        <p:spPr>
          <a:xfrm>
            <a:off x="4749800" y="22098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CB5160-57B9-F713-BE22-DA908B07EC2C}"/>
              </a:ext>
            </a:extLst>
          </p:cNvPr>
          <p:cNvSpPr txBox="1"/>
          <p:nvPr/>
        </p:nvSpPr>
        <p:spPr>
          <a:xfrm>
            <a:off x="50292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Razor</a:t>
            </a:r>
            <a:endParaRPr kumimoji="1" lang="ja-JP" altLang="en-US" sz="14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7713862-2130-67A9-F6EB-DDD8EE479CA7}"/>
              </a:ext>
            </a:extLst>
          </p:cNvPr>
          <p:cNvSpPr txBox="1"/>
          <p:nvPr/>
        </p:nvSpPr>
        <p:spPr>
          <a:xfrm>
            <a:off x="4749800" y="26162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Home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画面、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Layout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、条件分岐、イベントハンドラの記述で使用。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2E89839-62ED-71DA-2C52-CB741DA4EF22}"/>
              </a:ext>
            </a:extLst>
          </p:cNvPr>
          <p:cNvSpPr/>
          <p:nvPr/>
        </p:nvSpPr>
        <p:spPr>
          <a:xfrm>
            <a:off x="8153400" y="19812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D41DB4E-66F3-6B2D-6EB3-E152B390BCAF}"/>
              </a:ext>
            </a:extLst>
          </p:cNvPr>
          <p:cNvSpPr/>
          <p:nvPr/>
        </p:nvSpPr>
        <p:spPr>
          <a:xfrm>
            <a:off x="8382000" y="22098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4F2B22-8983-7F1F-F546-3A905361446B}"/>
              </a:ext>
            </a:extLst>
          </p:cNvPr>
          <p:cNvSpPr txBox="1"/>
          <p:nvPr/>
        </p:nvSpPr>
        <p:spPr>
          <a:xfrm>
            <a:off x="8661400" y="21463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400" b="1">
                <a:solidFill>
                  <a:srgbClr val="0F172A"/>
                </a:solidFill>
                <a:latin typeface="Yu Gothic" panose="020B0400000000000000" pitchFamily="50" charset="-128"/>
              </a:rPr>
              <a:t>HTML / CSS</a:t>
            </a:r>
            <a:endParaRPr kumimoji="1" lang="ja-JP" altLang="en-US" sz="1400" b="1">
              <a:solidFill>
                <a:srgbClr val="0F172A"/>
              </a:solidFill>
              <a:latin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2A8D3D-B860-BF3D-74EC-CC79957AB91E}"/>
              </a:ext>
            </a:extLst>
          </p:cNvPr>
          <p:cNvSpPr txBox="1"/>
          <p:nvPr/>
        </p:nvSpPr>
        <p:spPr>
          <a:xfrm>
            <a:off x="8382000" y="26162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画面構造、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CSS isolation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、ライト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ダークテーマ、レスポンシブ対応で使用。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05412F9-D8BB-336D-F8E2-F56257F27074}"/>
              </a:ext>
            </a:extLst>
          </p:cNvPr>
          <p:cNvSpPr/>
          <p:nvPr/>
        </p:nvSpPr>
        <p:spPr>
          <a:xfrm>
            <a:off x="1168400" y="50038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E2427C-15E2-7DDF-EC3D-083740B79E25}"/>
              </a:ext>
            </a:extLst>
          </p:cNvPr>
          <p:cNvSpPr txBox="1"/>
          <p:nvPr/>
        </p:nvSpPr>
        <p:spPr>
          <a:xfrm>
            <a:off x="1447800" y="4902200"/>
            <a:ext cx="9499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JavaScript: 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テーマ切替、フォーカストラップ、スクロールロックに使用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F129BC49-9985-093E-A198-DA5E743D9226}"/>
              </a:ext>
            </a:extLst>
          </p:cNvPr>
          <p:cNvSpPr/>
          <p:nvPr/>
        </p:nvSpPr>
        <p:spPr>
          <a:xfrm>
            <a:off x="1168400" y="5410200"/>
            <a:ext cx="101600" cy="1016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141D77E-76D9-2337-093F-E92E869CC37C}"/>
              </a:ext>
            </a:extLst>
          </p:cNvPr>
          <p:cNvSpPr txBox="1"/>
          <p:nvPr/>
        </p:nvSpPr>
        <p:spPr>
          <a:xfrm>
            <a:off x="1447800" y="5308600"/>
            <a:ext cx="9499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300">
                <a:solidFill>
                  <a:srgbClr val="475569"/>
                </a:solidFill>
                <a:latin typeface="Yu Gothic" panose="020B0400000000000000" pitchFamily="50" charset="-128"/>
              </a:rPr>
              <a:t>.NET 10 / Blazor Server: </a:t>
            </a:r>
            <a:r>
              <a:rPr kumimoji="1" lang="ja-JP" altLang="en-US" sz="1300">
                <a:solidFill>
                  <a:srgbClr val="475569"/>
                </a:solidFill>
                <a:latin typeface="Yu Gothic" panose="020B0400000000000000" pitchFamily="50" charset="-128"/>
              </a:rPr>
              <a:t>アプリ全体の実行基盤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654579A-E408-E1E5-12CD-B25F7D76FDAD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E70D84F-ADD4-35CE-0BD2-B0E85577078D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07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81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85D95E-BD85-0CD0-F6A3-D4202F2031E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F8CB0F-2065-AD8C-80D6-E0D32437A26D}"/>
              </a:ext>
            </a:extLst>
          </p:cNvPr>
          <p:cNvSpPr txBox="1"/>
          <p:nvPr/>
        </p:nvSpPr>
        <p:spPr>
          <a:xfrm>
            <a:off x="685800" y="609600"/>
            <a:ext cx="1079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3000" b="1">
                <a:solidFill>
                  <a:srgbClr val="0F172A"/>
                </a:solidFill>
                <a:latin typeface="Yu Gothic" panose="020B0400000000000000" pitchFamily="50" charset="-128"/>
              </a:rPr>
              <a:t>まとめ（感想・総評）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C52580-53CD-B27F-21BC-47708AABEC2D}"/>
              </a:ext>
            </a:extLst>
          </p:cNvPr>
          <p:cNvSpPr txBox="1"/>
          <p:nvPr/>
        </p:nvSpPr>
        <p:spPr>
          <a:xfrm>
            <a:off x="711200" y="1371600"/>
            <a:ext cx="10541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大阪の情報を、見やすく・触りやすく・短時間で理解できる</a:t>
            </a:r>
            <a:r>
              <a:rPr kumimoji="1" lang="en-US" altLang="ja-JP" sz="1200">
                <a:solidFill>
                  <a:srgbClr val="64748B"/>
                </a:solidFill>
                <a:latin typeface="Yu Gothic" panose="020B0400000000000000" pitchFamily="50" charset="-128"/>
              </a:rPr>
              <a:t>UI</a:t>
            </a:r>
            <a:r>
              <a:rPr kumimoji="1" lang="ja-JP" altLang="en-US" sz="1200">
                <a:solidFill>
                  <a:srgbClr val="64748B"/>
                </a:solidFill>
                <a:latin typeface="Yu Gothic" panose="020B0400000000000000" pitchFamily="50" charset="-128"/>
              </a:rPr>
              <a:t>にした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0550B82-4548-258E-5D6E-EC54B14F1C59}"/>
              </a:ext>
            </a:extLst>
          </p:cNvPr>
          <p:cNvSpPr/>
          <p:nvPr/>
        </p:nvSpPr>
        <p:spPr>
          <a:xfrm>
            <a:off x="838200" y="20828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BDB4C3E-1FE6-FECA-F8E2-BF323E71A35F}"/>
              </a:ext>
            </a:extLst>
          </p:cNvPr>
          <p:cNvSpPr/>
          <p:nvPr/>
        </p:nvSpPr>
        <p:spPr>
          <a:xfrm>
            <a:off x="1066800" y="2311400"/>
            <a:ext cx="165100" cy="165100"/>
          </a:xfrm>
          <a:prstGeom prst="ellipse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E163FE-8B75-75F7-4049-0AF62A216256}"/>
              </a:ext>
            </a:extLst>
          </p:cNvPr>
          <p:cNvSpPr txBox="1"/>
          <p:nvPr/>
        </p:nvSpPr>
        <p:spPr>
          <a:xfrm>
            <a:off x="13462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達成したこと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A6CC6A-379C-4D6D-3EFE-B91164861BB2}"/>
              </a:ext>
            </a:extLst>
          </p:cNvPr>
          <p:cNvSpPr txBox="1"/>
          <p:nvPr/>
        </p:nvSpPr>
        <p:spPr>
          <a:xfrm>
            <a:off x="10668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3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カテゴリの記事、画像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hero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、モーダル、画像拡大、テーマ切替を実装。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EB04B6E-9459-B096-8268-19E47D53BD77}"/>
              </a:ext>
            </a:extLst>
          </p:cNvPr>
          <p:cNvSpPr/>
          <p:nvPr/>
        </p:nvSpPr>
        <p:spPr>
          <a:xfrm>
            <a:off x="4521200" y="20828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F888608-0DB2-1A2F-B86D-DBEB681ED90E}"/>
              </a:ext>
            </a:extLst>
          </p:cNvPr>
          <p:cNvSpPr/>
          <p:nvPr/>
        </p:nvSpPr>
        <p:spPr>
          <a:xfrm>
            <a:off x="4749800" y="2311400"/>
            <a:ext cx="165100" cy="165100"/>
          </a:xfrm>
          <a:prstGeom prst="ellipse">
            <a:avLst/>
          </a:prstGeom>
          <a:solidFill>
            <a:srgbClr val="F973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E9F68CF-4FB0-E64E-EDAF-028E939732A6}"/>
              </a:ext>
            </a:extLst>
          </p:cNvPr>
          <p:cNvSpPr txBox="1"/>
          <p:nvPr/>
        </p:nvSpPr>
        <p:spPr>
          <a:xfrm>
            <a:off x="50292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工夫したこと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D25DD2-AC35-A7FC-0BE7-D1DD487B322C}"/>
              </a:ext>
            </a:extLst>
          </p:cNvPr>
          <p:cNvSpPr txBox="1"/>
          <p:nvPr/>
        </p:nvSpPr>
        <p:spPr>
          <a:xfrm>
            <a:off x="47498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右上の空白を</a:t>
            </a:r>
            <a:r>
              <a:rPr kumimoji="1" lang="en-US" altLang="ja-JP" sz="1100">
                <a:solidFill>
                  <a:srgbClr val="475569"/>
                </a:solidFill>
                <a:latin typeface="Yu Gothic" panose="020B0400000000000000" pitchFamily="50" charset="-128"/>
              </a:rPr>
              <a:t>hero</a:t>
            </a:r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として活用し、画像から記事へ直接移動できる導線を追加。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357D4ED-595A-4E01-DB42-BC42061D3F27}"/>
              </a:ext>
            </a:extLst>
          </p:cNvPr>
          <p:cNvSpPr/>
          <p:nvPr/>
        </p:nvSpPr>
        <p:spPr>
          <a:xfrm>
            <a:off x="8204200" y="2082800"/>
            <a:ext cx="3175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EBB0D9E5-9A75-9F01-0739-5E3CEF117E93}"/>
              </a:ext>
            </a:extLst>
          </p:cNvPr>
          <p:cNvSpPr/>
          <p:nvPr/>
        </p:nvSpPr>
        <p:spPr>
          <a:xfrm>
            <a:off x="8432800" y="2311400"/>
            <a:ext cx="165100" cy="165100"/>
          </a:xfrm>
          <a:prstGeom prst="ellipse">
            <a:avLst/>
          </a:prstGeom>
          <a:solidFill>
            <a:srgbClr val="E11D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24EFD0-516A-A330-5505-A70307FD167D}"/>
              </a:ext>
            </a:extLst>
          </p:cNvPr>
          <p:cNvSpPr txBox="1"/>
          <p:nvPr/>
        </p:nvSpPr>
        <p:spPr>
          <a:xfrm>
            <a:off x="8712200" y="2247900"/>
            <a:ext cx="2463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400" b="1">
                <a:solidFill>
                  <a:srgbClr val="0F172A"/>
                </a:solidFill>
                <a:latin typeface="Yu Gothic" panose="020B0400000000000000" pitchFamily="50" charset="-128"/>
              </a:rPr>
              <a:t>総評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2158C68-84BB-1AE7-AD13-12809B92566F}"/>
              </a:ext>
            </a:extLst>
          </p:cNvPr>
          <p:cNvSpPr txBox="1"/>
          <p:nvPr/>
        </p:nvSpPr>
        <p:spPr>
          <a:xfrm>
            <a:off x="8432800" y="2717800"/>
            <a:ext cx="27178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100">
                <a:solidFill>
                  <a:srgbClr val="475569"/>
                </a:solidFill>
                <a:latin typeface="Yu Gothic" panose="020B0400000000000000" pitchFamily="50" charset="-128"/>
              </a:rPr>
              <a:t>情報分類、視覚表現、操作導線をまとめ、課題作品として一貫した画面に仕上げた。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5126C15-E415-E6BD-451C-F9327F9145DD}"/>
              </a:ext>
            </a:extLst>
          </p:cNvPr>
          <p:cNvSpPr txBox="1"/>
          <p:nvPr/>
        </p:nvSpPr>
        <p:spPr>
          <a:xfrm>
            <a:off x="1041400" y="5130800"/>
            <a:ext cx="10033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1600" b="1">
                <a:solidFill>
                  <a:srgbClr val="0F172A"/>
                </a:solidFill>
                <a:latin typeface="Yu Gothic" panose="020B0400000000000000" pitchFamily="50" charset="-128"/>
              </a:rPr>
              <a:t>感想</a:t>
            </a:r>
            <a:r>
              <a:rPr kumimoji="1" lang="en-US" altLang="ja-JP" sz="1600" b="1">
                <a:solidFill>
                  <a:srgbClr val="0F172A"/>
                </a:solidFill>
                <a:latin typeface="Yu Gothic" panose="020B0400000000000000" pitchFamily="50" charset="-128"/>
              </a:rPr>
              <a:t>: </a:t>
            </a:r>
            <a:r>
              <a:rPr kumimoji="1" lang="ja-JP" altLang="en-US" sz="1600" b="1">
                <a:solidFill>
                  <a:srgbClr val="0F172A"/>
                </a:solidFill>
                <a:latin typeface="Yu Gothic" panose="020B0400000000000000" pitchFamily="50" charset="-128"/>
              </a:rPr>
              <a:t>見た目を整えるだけでなく、ユーザーが迷わず記事へ進める導線作りの重要性を学んだ。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5550D26-8AB5-34D3-2478-0EB01EFDB821}"/>
              </a:ext>
            </a:extLst>
          </p:cNvPr>
          <p:cNvSpPr txBox="1"/>
          <p:nvPr/>
        </p:nvSpPr>
        <p:spPr>
          <a:xfrm>
            <a:off x="685800" y="6553200"/>
            <a:ext cx="444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kumimoji="1" lang="ja-JP" altLang="en-US" sz="800">
                <a:solidFill>
                  <a:srgbClr val="64748B"/>
                </a:solidFill>
                <a:latin typeface="Yu Gothic" panose="020B0400000000000000" pitchFamily="50" charset="-128"/>
              </a:rPr>
              <a:t>大阪紹介 </a:t>
            </a:r>
            <a:r>
              <a:rPr kumimoji="1" lang="en-US" altLang="ja-JP" sz="800">
                <a:solidFill>
                  <a:srgbClr val="64748B"/>
                </a:solidFill>
                <a:latin typeface="Yu Gothic" panose="020B0400000000000000" pitchFamily="50" charset="-128"/>
              </a:rPr>
              <a:t>UI/UX Assignment</a:t>
            </a:r>
            <a:endParaRPr kumimoji="1" lang="ja-JP" altLang="en-US" sz="800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7F2B447-C6A2-152E-A2B4-2AA673C15EFA}"/>
              </a:ext>
            </a:extLst>
          </p:cNvPr>
          <p:cNvSpPr txBox="1"/>
          <p:nvPr/>
        </p:nvSpPr>
        <p:spPr>
          <a:xfrm>
            <a:off x="11074400" y="6553200"/>
            <a:ext cx="431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kumimoji="1" lang="en-US" altLang="ja-JP" sz="800" b="1">
                <a:solidFill>
                  <a:srgbClr val="64748B"/>
                </a:solidFill>
                <a:latin typeface="Yu Gothic" panose="020B0400000000000000" pitchFamily="50" charset="-128"/>
              </a:rPr>
              <a:t>08</a:t>
            </a:r>
            <a:endParaRPr kumimoji="1" lang="ja-JP" altLang="en-US" sz="800" b="1">
              <a:solidFill>
                <a:srgbClr val="64748B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908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ワイド画面</PresentationFormat>
  <Paragraphs>94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中山　賢志郎</dc:creator>
  <cp:lastModifiedBy>中山　賢志郎</cp:lastModifiedBy>
  <cp:revision>2</cp:revision>
  <dcterms:created xsi:type="dcterms:W3CDTF">2026-05-26T05:36:36Z</dcterms:created>
  <dcterms:modified xsi:type="dcterms:W3CDTF">2026-05-26T05:39:42Z</dcterms:modified>
</cp:coreProperties>
</file>